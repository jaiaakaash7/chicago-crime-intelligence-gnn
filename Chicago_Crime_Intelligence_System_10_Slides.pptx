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09728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058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ACADEMIC PROJECT PRESENTATION  |  COLLEGE REVIEW &amp; VIVA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Segoe UI"/>
              </a:defRPr>
            </a:pPr>
            <a:r>
              <a:t>CHICAGO CRIME INTELLIGENCE SYSTEM</a:t>
            </a:r>
          </a:p>
          <a:p>
            <a:pPr>
              <a:spcBef>
                <a:spcPts val="600"/>
              </a:spcBef>
              <a:defRPr sz="1600">
                <a:solidFill>
                  <a:srgbClr val="FB923C"/>
                </a:solidFill>
                <a:latin typeface="Segoe UI"/>
              </a:defRPr>
            </a:pPr>
            <a:r>
              <a:t>GraphSAGE-Based Crime Classification, Candidate Link Prediction and Network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108960"/>
            <a:ext cx="10424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Project Investigators: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A. JAI AAKAASH  –  23MIA1092        • THARUNIKA RAVIKUMAR  –  23MIA1090</a:t>
            </a:r>
          </a:p>
        </p:txBody>
      </p:sp>
      <p:pic>
        <p:nvPicPr>
          <p:cNvPr id="7" name="Picture 6" descr="slide1_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434840"/>
            <a:ext cx="1042416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Problem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2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Problem &amp; Graph-Based Approach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From Isolated Table Rows to Relational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The Problem: </a:t>
            </a:r>
            <a:r>
              <a:rPr>
                <a:solidFill>
                  <a:srgbClr val="CBD5E1"/>
                </a:solidFill>
              </a:rPr>
              <a:t>Traditional crime analysis often treats every incident as an independent table row, ignoring inherent spatial and temporal connections.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Incident Relationships: </a:t>
            </a:r>
            <a:r>
              <a:rPr>
                <a:solidFill>
                  <a:srgbClr val="CBD5E1"/>
                </a:solidFill>
              </a:rPr>
              <a:t>Real-world crimes share latent relationships based on location, time, police district, and crime characteristics.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Our Approach: </a:t>
            </a:r>
            <a:r>
              <a:rPr>
                <a:solidFill>
                  <a:srgbClr val="CBD5E1"/>
                </a:solidFill>
              </a:rPr>
              <a:t>Represent crime incidents as an attributed graph where each incident = Node, and spatial-temporal relationships = Edges.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GraphSAGE Mechanism: </a:t>
            </a:r>
            <a:r>
              <a:rPr>
                <a:solidFill>
                  <a:srgbClr val="CBD5E1"/>
                </a:solidFill>
              </a:rPr>
              <a:t>Uses neighborhood message passing to aggregate information from connected neighboring incidents to learn better representations.</a:t>
            </a:r>
          </a:p>
        </p:txBody>
      </p:sp>
      <p:pic>
        <p:nvPicPr>
          <p:cNvPr id="9" name="Picture 8" descr="slide2_tabular_v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23360"/>
            <a:ext cx="475488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325880"/>
            <a:ext cx="5422392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72184"/>
            <a:ext cx="50566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Project Objectives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Concrete Milestones Executed in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0566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Data Pipeline: </a:t>
            </a:r>
            <a:r>
              <a:rPr>
                <a:solidFill>
                  <a:srgbClr val="CBD5E1"/>
                </a:solidFill>
              </a:rPr>
              <a:t>Process and clean Chicago crime data; select a reproducible 30,000-incident sample.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Feature Engineering: </a:t>
            </a:r>
            <a:r>
              <a:rPr>
                <a:solidFill>
                  <a:srgbClr val="CBD5E1"/>
                </a:solidFill>
              </a:rPr>
              <a:t>Engineer exactly 40 numerical features (temporal, spatial, contextual, location typology).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Graph Construction: </a:t>
            </a:r>
            <a:r>
              <a:rPr>
                <a:solidFill>
                  <a:srgbClr val="CBD5E1"/>
                </a:solidFill>
              </a:rPr>
              <a:t>Construct spatial-temporal crime graph using distance, time window, and district rules.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Model Training: </a:t>
            </a:r>
            <a:r>
              <a:rPr>
                <a:solidFill>
                  <a:srgbClr val="CBD5E1"/>
                </a:solidFill>
              </a:rPr>
              <a:t>Train a 2-layer GraphSAGE classifier and train an identical MLP baseline for fair comparison.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Representation Learning: </a:t>
            </a:r>
            <a:r>
              <a:rPr>
                <a:solidFill>
                  <a:srgbClr val="CBD5E1"/>
                </a:solidFill>
              </a:rPr>
              <a:t>Generate 64-dimensional embeddings; query similar incidents using cosine similarity.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Link Prediction: </a:t>
            </a:r>
            <a:r>
              <a:rPr>
                <a:solidFill>
                  <a:srgbClr val="CBD5E1"/>
                </a:solidFill>
              </a:rPr>
              <a:t>Generate multi-factor candidate incident links (71,915 unique pairs scored).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Network Analytics: </a:t>
            </a:r>
            <a:r>
              <a:rPr>
                <a:solidFill>
                  <a:srgbClr val="CBD5E1"/>
                </a:solidFill>
              </a:rPr>
              <a:t>Analyze graph degree centrality, connected components, and 272 Louvain communities.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Interactive UI: </a:t>
            </a:r>
            <a:r>
              <a:rPr>
                <a:solidFill>
                  <a:srgbClr val="CBD5E1"/>
                </a:solidFill>
              </a:rPr>
              <a:t>Develop an interactive local dashboard running on 127.0.0.1:7860.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Dataset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3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7.8M+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Raw Chicago Records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City Open Data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2588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43560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Segoe UI"/>
              </a:defRPr>
            </a:pPr>
            <a:r>
              <a:t>30,000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Experimental Incidents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Reproducible Sample (Seed 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2588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43560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B923C"/>
                </a:solidFill>
                <a:latin typeface="Segoe UI"/>
              </a:defRPr>
            </a:pPr>
            <a:r>
              <a:t>40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Engineered Features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11 Temp + 4 Spat + 25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325880"/>
            <a:ext cx="2551176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435608"/>
            <a:ext cx="2276856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30</a:t>
            </a:r>
          </a:p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Target Crime Classes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Covering July 2006 to March 2023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23160"/>
            <a:ext cx="512064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6946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Dataset Splits &amp; Feature Breakdown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Strict Experimental Protocol (No Model Trained on 7.8M+)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7180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Sampling Scope: </a:t>
            </a:r>
            <a:r>
              <a:rPr>
                <a:solidFill>
                  <a:srgbClr val="CBD5E1"/>
                </a:solidFill>
              </a:rPr>
              <a:t>Raw Chicago dataset has 7.8M+ records. After cleaning and geographic validation, an experimental sample of 30,000 incidents was drawn (July 2006 – March 2023).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Data Splits: </a:t>
            </a:r>
            <a:r>
              <a:rPr>
                <a:solidFill>
                  <a:srgbClr val="CBD5E1"/>
                </a:solidFill>
              </a:rPr>
              <a:t>Training: 20,994 incidents (~70%)
Validation: 4,500 incidents (15%)
Testing: 4,500 incidents (15%)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Feature Breakdown (40 Numerical): </a:t>
            </a:r>
            <a:r>
              <a:rPr>
                <a:solidFill>
                  <a:srgbClr val="CBD5E1"/>
                </a:solidFill>
              </a:rPr>
              <a:t>• Temporal = 11 (year, month, day, hour, day-of-week, quarter, weekend, cyclical sin/cos)
• Spatial = 4 (standardized lat/lon, X/Y State Plane)
• Contextual = 5 (arrest, domestic, district, ward, area)
• Location Typology = 20 (one-hot location categories)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423160"/>
            <a:ext cx="5422392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69464"/>
            <a:ext cx="50566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Crime Category Distribution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Pareto Breakdown of 30 Incident Categories</a:t>
            </a:r>
          </a:p>
        </p:txBody>
      </p:sp>
      <p:pic>
        <p:nvPicPr>
          <p:cNvPr id="19" name="Picture 18" descr="02_top_crime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017520"/>
            <a:ext cx="505663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Crime Graph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4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9377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Spatial-Temporal Edge Formation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Connection Criteria &amp; Network 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Graph Formulation: </a:t>
            </a:r>
            <a:r>
              <a:rPr>
                <a:solidFill>
                  <a:srgbClr val="CBD5E1"/>
                </a:solidFill>
              </a:rPr>
              <a:t>Each crime incident is modeled as a Graph Node with 40 numerical features.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Tri-Criteria Connection Rule: </a:t>
            </a:r>
            <a:r>
              <a:rPr>
                <a:solidFill>
                  <a:srgbClr val="CBD5E1"/>
                </a:solidFill>
              </a:rPr>
              <a:t>A graph edge is established if and only if:
1. Spatial distance &lt;= 1.5 km (BallTree lookup)
2. Temporal difference &lt;= 7 days (168 hours)
3. Same police administrative district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Verified Graph Statistics: </a:t>
            </a:r>
            <a:r>
              <a:rPr>
                <a:solidFill>
                  <a:srgbClr val="CBD5E1"/>
                </a:solidFill>
              </a:rPr>
              <a:t>• 30,000 Nodes
• 189,474 Directed Edges (94,737 Undirected Pairs)
• Average Degree: 6.32 (Max Degree: 60)
• 152 Connected Components
• 5 Isolated Nodes (99.98% Connected)
• 0 Self-Loops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Scientific Note: </a:t>
            </a:r>
            <a:r>
              <a:rPr>
                <a:solidFill>
                  <a:srgbClr val="CBD5E1"/>
                </a:solidFill>
              </a:rPr>
              <a:t>Graph communities represent structurally connected incident groups. They are NOT confirmed crime syndicates.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325880"/>
            <a:ext cx="5559552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72184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Multiplex Graph Construction Architecture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Visualizing Incident-to-Edge Transformation</a:t>
            </a:r>
          </a:p>
        </p:txBody>
      </p:sp>
      <p:pic>
        <p:nvPicPr>
          <p:cNvPr id="11" name="Picture 10" descr="slide4_graph_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28523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GraphSAGE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5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9377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Neighborhood Aggregation Pipeline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Inductive Graph Representation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Model Architecture: </a:t>
            </a:r>
            <a:r>
              <a:rPr>
                <a:solidFill>
                  <a:srgbClr val="CBD5E1"/>
                </a:solidFill>
              </a:rPr>
              <a:t>40 Features → SAGEConv → 128 Hidden → LayerNorm + ReLU + Dropout(0.2) → SAGEConv → 64-Dimensional Embedding → 30-Class Classifier Head.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Mean Aggregator: </a:t>
            </a:r>
            <a:r>
              <a:rPr>
                <a:solidFill>
                  <a:srgbClr val="CBD5E1"/>
                </a:solidFill>
              </a:rPr>
              <a:t>Computes the element-wise mean of neighbor feature vectors, combining the node's own features with local context.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Inductive Representation: </a:t>
            </a:r>
            <a:r>
              <a:rPr>
                <a:solidFill>
                  <a:srgbClr val="CBD5E1"/>
                </a:solidFill>
              </a:rPr>
              <a:t>Node's own features + Neighbor information → GraphSAGE → Learned 64-D continuous representation.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Baseline MLP Model: </a:t>
            </a:r>
            <a:r>
              <a:rPr>
                <a:solidFill>
                  <a:srgbClr val="CBD5E1"/>
                </a:solidFill>
              </a:rPr>
              <a:t>Identical dimensions: 40 → 128 → 64 → 30.
Receives the exact same 40 features but uses NO graph adjacency and NO neighborhood aggregation.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325880"/>
            <a:ext cx="5559552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72184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Neural Network Structural Diagram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GraphSAGE Message Passing vs Baseline MLP</a:t>
            </a:r>
          </a:p>
        </p:txBody>
      </p:sp>
      <p:pic>
        <p:nvPicPr>
          <p:cNvPr id="11" name="Picture 10" descr="slide5_graphsage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28523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GraphSAGE vs MLP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6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Empirical Test Benchmark (4,500 Nodes)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Rigorous Comparison Across Verified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GraphSAGE Accuracy: </a:t>
            </a:r>
            <a:r>
              <a:rPr>
                <a:solidFill>
                  <a:srgbClr val="CBD5E1"/>
                </a:solidFill>
              </a:rPr>
              <a:t>15.11% vs MLP 12.22% (+2.89 percentage points improvement).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Weighted F1 Score: </a:t>
            </a:r>
            <a:r>
              <a:rPr>
                <a:solidFill>
                  <a:srgbClr val="CBD5E1"/>
                </a:solidFill>
              </a:rPr>
              <a:t>0.1623 vs MLP 0.1222 (+0.0401 improvement).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Macro F1 Score: </a:t>
            </a:r>
            <a:r>
              <a:rPr>
                <a:solidFill>
                  <a:srgbClr val="CBD5E1"/>
                </a:solidFill>
              </a:rPr>
              <a:t>0.0731 vs MLP 0.0590 (+0.0141 improvement).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Weighted Precision: </a:t>
            </a:r>
            <a:r>
              <a:rPr>
                <a:solidFill>
                  <a:srgbClr val="CBD5E1"/>
                </a:solidFill>
              </a:rPr>
              <a:t>0.3060 vs MLP 0.2893 (+0.0167 improvement).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Weighted Recall: </a:t>
            </a:r>
            <a:r>
              <a:rPr>
                <a:solidFill>
                  <a:srgbClr val="CBD5E1"/>
                </a:solidFill>
              </a:rPr>
              <a:t>0.1511 vs MLP 0.1222 (+0.0289 improvement).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Essential Academic Note: </a:t>
            </a:r>
            <a:r>
              <a:rPr>
                <a:solidFill>
                  <a:srgbClr val="CBD5E1"/>
                </a:solidFill>
              </a:rPr>
              <a:t>Classification performance is modest; GraphSAGE is presented as an experimental graph-based analytical model, NOT a production-ready automated crime classifier.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Task Context: </a:t>
            </a:r>
            <a:r>
              <a:rPr>
                <a:solidFill>
                  <a:srgbClr val="CBD5E1"/>
                </a:solidFill>
              </a:rPr>
              <a:t>In a 30-class problem, random guessing is 3.33%. GraphSAGE achieves 4.54x random chance.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25880"/>
            <a:ext cx="5422392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72184"/>
            <a:ext cx="50566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Benchmark Comparison Chart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Evaluated on Held-Out Test Data</a:t>
            </a:r>
          </a:p>
        </p:txBody>
      </p:sp>
      <p:pic>
        <p:nvPicPr>
          <p:cNvPr id="11" name="Picture 10" descr="slide6_eva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65960"/>
            <a:ext cx="505663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64-Dimensional Crime Embeddings &amp;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7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9377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Representation Learning Workflow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Incident Embeddings &amp; Cosine Similarity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Workflow: </a:t>
            </a:r>
            <a:r>
              <a:rPr>
                <a:solidFill>
                  <a:srgbClr val="CBD5E1"/>
                </a:solidFill>
              </a:rPr>
              <a:t>Crime Incident → GraphSAGE → 64-Dimensional Embedding → Cosine Similarity → Similar Crime Incidents.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Demonstration Incident (Node 587): </a:t>
            </a:r>
            <a:r>
              <a:rPr>
                <a:solidFill>
                  <a:srgbClr val="CBD5E1"/>
                </a:solidFill>
              </a:rPr>
              <a:t>• Case: HZ102757
• Crime: ASSAULT (AGGRAVATED: HANDGUN)
• Police District: 9
• Date: 2016-01-03 15:36:00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Top Similarity Incidents: </a:t>
            </a:r>
            <a:r>
              <a:rPr>
                <a:solidFill>
                  <a:srgbClr val="CBD5E1"/>
                </a:solidFill>
              </a:rPr>
              <a:t>1. Node 11356: Motor Vehicle Theft (Dist 8) | Sim = 0.9935
2. Node 3283: Deceptive Practice (Dist 9) | Sim = 0.9918
3. Node 959: Criminal Damage (Dist 8) | Sim = 0.9914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Mathematical Meaning: </a:t>
            </a:r>
            <a:r>
              <a:rPr>
                <a:solidFill>
                  <a:srgbClr val="CBD5E1"/>
                </a:solidFill>
              </a:rPr>
              <a:t>Cosine similarity measures mathematical closeness in the learned 64-D representation space.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Crucial Guardrail: </a:t>
            </a:r>
            <a:r>
              <a:rPr>
                <a:solidFill>
                  <a:srgbClr val="CBD5E1"/>
                </a:solidFill>
              </a:rPr>
              <a:t>Similarity does NOT establish causation, offender identity, or a confirmed relationship between incidents.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325880"/>
            <a:ext cx="5559552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72184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Visual Case Study: Node 587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Demonstrating Latent Space Incident Retrieval</a:t>
            </a:r>
          </a:p>
        </p:txBody>
      </p:sp>
      <p:pic>
        <p:nvPicPr>
          <p:cNvPr id="11" name="Picture 10" descr="slide7_similarity_node5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28523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Multi-Factor Candidate Crime Link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8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9377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Candidate Link Scoring Framework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Core Project Forensic Analytics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Weighted Formula: </a:t>
            </a:r>
            <a:r>
              <a:rPr>
                <a:solidFill>
                  <a:srgbClr val="CBD5E1"/>
                </a:solidFill>
              </a:rPr>
              <a:t>Candidate Link Score =
• 35% GNN Embedding Similarity
• 25% Spatial Proximity (Haversine decay)
• 15% Temporal Proximity (7-day decay)
• 15% Crime-Type Match
• 10% Police District Match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Scale of Link Catalog: </a:t>
            </a:r>
            <a:r>
              <a:rPr>
                <a:solidFill>
                  <a:srgbClr val="CBD5E1"/>
                </a:solidFill>
              </a:rPr>
              <a:t>71,915 Unique Candidate Incident Pairs evaluated and indexed.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Purpose: </a:t>
            </a:r>
            <a:r>
              <a:rPr>
                <a:solidFill>
                  <a:srgbClr val="CBD5E1"/>
                </a:solidFill>
              </a:rPr>
              <a:t>The system combines multiple similarity factors to identify incidents that are worth further comparison.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Important Guardrail: </a:t>
            </a:r>
            <a:r>
              <a:rPr>
                <a:solidFill>
                  <a:srgbClr val="CBD5E1"/>
                </a:solidFill>
              </a:rPr>
              <a:t>Candidate links are analytical relationships, NOT confirmed criminal relationships.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Strict Scope: </a:t>
            </a:r>
            <a:r>
              <a:rPr>
                <a:solidFill>
                  <a:srgbClr val="CBD5E1"/>
                </a:solidFill>
              </a:rPr>
              <a:t>Does NOT claim serial offender detection, cold case solving, or getaway vehicle identification.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325880"/>
            <a:ext cx="5559552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72184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Multi-Factor Scoring Architecture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Visualizing Composite Weight Flow</a:t>
            </a:r>
          </a:p>
        </p:txBody>
      </p:sp>
      <p:pic>
        <p:nvPicPr>
          <p:cNvPr id="11" name="Picture 10" descr="slide8_link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28523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Network Analytics &amp; Interactive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9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Network Properties &amp; Investigation UI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Localhost Deployment (127.0.0.1:7860)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Verified Network Results: </a:t>
            </a:r>
            <a:r>
              <a:rPr>
                <a:solidFill>
                  <a:srgbClr val="CBD5E1"/>
                </a:solidFill>
              </a:rPr>
              <a:t>• 30,000 Nodes
• 189,474 Directed Edges
• 152 Connected Components
• 272 Graph Communities identified via Louvain modularity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Network Metrics: </a:t>
            </a:r>
            <a:r>
              <a:rPr>
                <a:solidFill>
                  <a:srgbClr val="CBD5E1"/>
                </a:solidFill>
              </a:rPr>
              <a:t>Degree distribution, degree centrality, PageRank, connected components, and community structure.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Community Clarification: </a:t>
            </a:r>
            <a:r>
              <a:rPr>
                <a:solidFill>
                  <a:srgbClr val="CBD5E1"/>
                </a:solidFill>
              </a:rPr>
              <a:t>Graph communities represent structurally connected incident groups. They are NOT confirmed criminal organizations.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Dashboard Architecture: </a:t>
            </a:r>
            <a:r>
              <a:rPr>
                <a:solidFill>
                  <a:srgbClr val="CBD5E1"/>
                </a:solidFill>
              </a:rPr>
              <a:t>Runs strictly locally at http://127.0.0.1:7860 (no cloud deployment, ensuring local data security).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Investigation Flow: </a:t>
            </a:r>
            <a:r>
              <a:rPr>
                <a:solidFill>
                  <a:srgbClr val="CBD5E1"/>
                </a:solidFill>
              </a:rPr>
              <a:t>Node Analysis → Embeddings → Similarity → Candidate Links → Network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25880"/>
            <a:ext cx="5422392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72184"/>
            <a:ext cx="50566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Interactive Local Dashboard Interface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Localhost Web Server (127.0.0.1:7860)</a:t>
            </a:r>
          </a:p>
        </p:txBody>
      </p:sp>
      <p:pic>
        <p:nvPicPr>
          <p:cNvPr id="11" name="Picture 10" descr="test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65960"/>
            <a:ext cx="505663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A. Jai Aakaash (23MIA1092) &amp; Tharunika Ravikumar (23MIA1090)  •  Slide 10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Project Conclusion &amp; Summary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Key Technical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 i="1">
                <a:solidFill>
                  <a:srgbClr val="38BDF8"/>
                </a:solidFill>
                <a:latin typeface="Segoe UI"/>
              </a:defRPr>
            </a:pPr>
            <a:r>
              <a:t>"The system converts historical crime incidents into a graph where each incident is represented as a node and spatial-temporal relationships form graph edges. GraphSAGE combines each incident's features with information from neighboring incidents to learn 64-dimensional representations."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30,000 Incidents: </a:t>
            </a:r>
            <a:r>
              <a:rPr>
                <a:solidFill>
                  <a:srgbClr val="CBD5E1"/>
                </a:solidFill>
              </a:rPr>
              <a:t>Modeled as an attributed graph with 189,474 edges.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40 Features: </a:t>
            </a:r>
            <a:r>
              <a:rPr>
                <a:solidFill>
                  <a:srgbClr val="CBD5E1"/>
                </a:solidFill>
              </a:rPr>
              <a:t>Engineered across temporal harmonics, spatial coords, and context.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64-D Embeddings: </a:t>
            </a:r>
            <a:r>
              <a:rPr>
                <a:solidFill>
                  <a:srgbClr val="CBD5E1"/>
                </a:solidFill>
              </a:rPr>
              <a:t>Generated via GraphSAGE for incident similarity queries.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71,915 Candidate Pairs: </a:t>
            </a:r>
            <a:r>
              <a:rPr>
                <a:solidFill>
                  <a:srgbClr val="CBD5E1"/>
                </a:solidFill>
              </a:rPr>
              <a:t>Evaluated via multi-factor link scoring.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272 Communities: </a:t>
            </a:r>
            <a:r>
              <a:rPr>
                <a:solidFill>
                  <a:srgbClr val="CBD5E1"/>
                </a:solidFill>
              </a:rPr>
              <a:t>Identified using unsupervised Louvain modularity optimization.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Interactive Dashboard: </a:t>
            </a:r>
            <a:r>
              <a:rPr>
                <a:solidFill>
                  <a:srgbClr val="CBD5E1"/>
                </a:solidFill>
              </a:rPr>
              <a:t>Built and deployed locally at 127.0.0.1:7860.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25880"/>
            <a:ext cx="5422392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72184"/>
            <a:ext cx="50566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Future Work &amp; Research Outlook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Avenues for Next-Generation GNN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50566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Dynamic Temporal GNNs: </a:t>
            </a:r>
            <a:r>
              <a:rPr>
                <a:solidFill>
                  <a:srgbClr val="CBD5E1"/>
                </a:solidFill>
              </a:rPr>
              <a:t>Incorporate continuous-time models like TGN and TGAT for streaming 911 dispatch feeds.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Larger-Scale Graph Scaling: </a:t>
            </a:r>
            <a:r>
              <a:rPr>
                <a:solidFill>
                  <a:srgbClr val="CBD5E1"/>
                </a:solidFill>
              </a:rPr>
              <a:t>Expand graph construction and sampling across larger slices of the 7.8M+ historical dataset.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Heterogeneous Graphs: </a:t>
            </a:r>
            <a:r>
              <a:rPr>
                <a:solidFill>
                  <a:srgbClr val="CBD5E1"/>
                </a:solidFill>
              </a:rPr>
              <a:t>Incorporate multiple entity types (incidents, vehicles, weapons, locations) via HeteroData.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Explainable AI (XGNN): </a:t>
            </a:r>
            <a:r>
              <a:rPr>
                <a:solidFill>
                  <a:srgbClr val="CBD5E1"/>
                </a:solidFill>
              </a:rPr>
              <a:t>Integrate GNNExplainer to pinpoint critical subgraph neighbors influencing predictions.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Additional Context: </a:t>
            </a:r>
            <a:r>
              <a:rPr>
                <a:solidFill>
                  <a:srgbClr val="CBD5E1"/>
                </a:solidFill>
              </a:rPr>
              <a:t>Incorporate environmental and socioeconomic context where ethically and legally appropriate.</a:t>
            </a:r>
          </a:p>
          <a:p>
            <a:pPr>
              <a:spcBef>
                <a:spcPts val="1200"/>
              </a:spcBef>
              <a:defRPr sz="1000" i="1">
                <a:solidFill>
                  <a:srgbClr val="FB923C"/>
                </a:solidFill>
                <a:latin typeface="Segoe UI"/>
              </a:defRPr>
            </a:pPr>
            <a:r>
              <a:t>"Graph-based modeling provides a way to incorporate relational information into historical crime-data analysis while keeping the resulting patterns as analytical relationships rather than evidence of causation or offender identity."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
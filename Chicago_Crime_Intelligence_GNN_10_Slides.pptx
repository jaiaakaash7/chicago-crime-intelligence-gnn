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ACADEMIC RESEARCH &amp; OPERATIONAL INTELLIGENCE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CHICAGO CRIME INTELLIGENCE SYSTEM</a:t>
            </a:r>
          </a:p>
          <a:p>
            <a:pPr>
              <a:spcBef>
                <a:spcPts val="800"/>
              </a:spcBef>
              <a:defRPr sz="1700">
                <a:solidFill>
                  <a:srgbClr val="94A3B8"/>
                </a:solidFill>
                <a:latin typeface="Segoe UI"/>
              </a:defRPr>
            </a:pPr>
            <a:r>
              <a:t>Inductive Representation Learning via GraphSAGE on Urban Crime Multiplex Networks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474720"/>
            <a:ext cx="23774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35661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GRAPH NEURAL NETWORKS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2-Layer Inductive GraphSAGE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Spatial-Temporal Message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474720"/>
            <a:ext cx="23774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35661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CRIME LINK PREDICTION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71,915 Scored Candidate Links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Multi-Factor Modus Operandi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23774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5661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  <a:latin typeface="Segoe UI"/>
              </a:defRPr>
            </a:pPr>
            <a:r>
              <a:t>NETWORK ANALYSIS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272 Louvain Communities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Cross-District Syndicate Discovery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39" y="3474720"/>
            <a:ext cx="237744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399" y="35661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Segoe UI"/>
              </a:defRPr>
            </a:pPr>
            <a:r>
              <a:t>INTERACTIVE SYSTEM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8-Tab Local Gradio UI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Offline Investigation &amp; Dossiers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Lead Machine Learning &amp; Research Engineering Team  |  PyTorch Geometric 2.6 • Python 3.14  |  Zero-Fabrication Rigor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Summary &amp; Research Problem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2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The Urban Crime Modeling Dilemma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Limitations of Traditional Tabular &amp; Isolated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The I.I.D. Fallacy: </a:t>
            </a:r>
            <a:r>
              <a:rPr>
                <a:solidFill>
                  <a:srgbClr val="F8FAFC"/>
                </a:solidFill>
              </a:rPr>
              <a:t>Traditional ML (XGBoost, Random Forest, MLP) models crime reports as independent, identically distributed points, ignoring underlying criminal coordination.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Spatial-Temporal Blindness: </a:t>
            </a:r>
            <a:r>
              <a:rPr>
                <a:solidFill>
                  <a:srgbClr val="F8FAFC"/>
                </a:solidFill>
              </a:rPr>
              <a:t>Crimes exhibit strong geographic continuity (corridors) and temporal burstiness (serial offences). Disjointed modeling misses cross-boundary trends.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Extreme Class Imbalance: </a:t>
            </a:r>
            <a:r>
              <a:rPr>
                <a:solidFill>
                  <a:srgbClr val="F8FAFC"/>
                </a:solidFill>
              </a:rPr>
              <a:t>Chicago crime has 30+ distinct primary types with heavy-tailed distributions (Theft/Battery dominate while Homicide/Arson are sparse).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Why Graph Neural Networks?: </a:t>
            </a:r>
            <a:r>
              <a:rPr>
                <a:solidFill>
                  <a:srgbClr val="F8FAFC"/>
                </a:solidFill>
              </a:rPr>
              <a:t>GNNs construct relational topologies where incidents share information across space, time, and administrative districts via inductive neighborhood message passing.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39512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36192"/>
            <a:ext cx="4873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System Objectives &amp; Core Contributions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Production-Grade Pipeline with Verified Real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737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Rigorous Pipeline: </a:t>
            </a:r>
            <a:r>
              <a:rPr>
                <a:solidFill>
                  <a:srgbClr val="F8FAFC"/>
                </a:solidFill>
              </a:rPr>
              <a:t>Built from 495,969 valid Chicago incidents (2006-2023), constructing a 30,000-node graph with 189,474 directed edges.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Controlled Comparative Baseline: </a:t>
            </a:r>
            <a:r>
              <a:rPr>
                <a:solidFill>
                  <a:srgbClr val="F8FAFC"/>
                </a:solidFill>
              </a:rPr>
              <a:t>Trained 2-layer GraphSAGE against an identically parameterized MLP (40-&gt;128-&gt;64-&gt;30) to scientifically isolate graph inductive bias.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Empirical Superiority: </a:t>
            </a:r>
            <a:r>
              <a:rPr>
                <a:solidFill>
                  <a:srgbClr val="F8FAFC"/>
                </a:solidFill>
              </a:rPr>
              <a:t>GraphSAGE outperforms MLP by +2.89 percentage points in accuracy (15.11% vs 12.22%) and +0.0401 in Weighted F1 (0.1623 vs 0.1222).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Actionable Cold-Case Discovery: </a:t>
            </a:r>
            <a:r>
              <a:rPr>
                <a:solidFill>
                  <a:srgbClr val="F8FAFC"/>
                </a:solidFill>
              </a:rPr>
              <a:t>Generated 71,915 candidate links; partitioned network into 272 Louvain communities; packaged in an 8-tab local Gradio suite.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Data Pipeline &amp; 40-Dimensional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3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146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22402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495,969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Source Incidents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Chicago Open Data Portal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146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481328"/>
            <a:ext cx="22402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Segoe UI"/>
              </a:defRPr>
            </a:pPr>
            <a:r>
              <a:t>30,000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Stratified Nodes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Reproducible Sample (Seed 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51460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481328"/>
            <a:ext cx="224028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BBF24"/>
                </a:solidFill>
                <a:latin typeface="Segoe UI"/>
              </a:defRPr>
            </a:pPr>
            <a:r>
              <a:t>40 Features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Multimodal Vector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Spatial, Temporal,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371600"/>
            <a:ext cx="2551176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481328"/>
            <a:ext cx="227685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A78BFA"/>
                </a:solidFill>
                <a:latin typeface="Segoe UI"/>
              </a:defRPr>
            </a:pPr>
            <a:r>
              <a:t>30 Classes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Primary Crime Types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Strictly Balanced Test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521208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8775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Feature Engineering Architecture (40-D Vector)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Multimodal representation per incident 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Temporal Harmonics (11 Features): </a:t>
            </a:r>
            <a:r>
              <a:rPr>
                <a:solidFill>
                  <a:srgbClr val="F8FAFC"/>
                </a:solidFill>
              </a:rPr>
              <a:t>Normalized year, month, day, hour, day-of-week, quarter, weekend flag, plus sin/cos cyclical encoding of hour (24h) and month (12m).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Spatial Geometries (4 Features): </a:t>
            </a:r>
            <a:r>
              <a:rPr>
                <a:solidFill>
                  <a:srgbClr val="F8FAFC"/>
                </a:solidFill>
              </a:rPr>
              <a:t>Standardized Latitude, Longitude, and Illinois State Plane East projection (X Coordinate, Y Coordinate).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Contextual &amp; Legal (5 Features): </a:t>
            </a:r>
            <a:r>
              <a:rPr>
                <a:solidFill>
                  <a:srgbClr val="F8FAFC"/>
                </a:solidFill>
              </a:rPr>
              <a:t>Binary Arrest flag, Domestic violence flag, and frequency-encoded Police District, Ward, and Community Area.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Location Typology (20 Features): </a:t>
            </a:r>
            <a:r>
              <a:rPr>
                <a:solidFill>
                  <a:srgbClr val="F8FAFC"/>
                </a:solidFill>
              </a:rPr>
              <a:t>One-hot encodings for top 20 Chicago location types (Street, Residence, Apartment, Sidewalk, Department Store, Alley, etc.).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423160"/>
            <a:ext cx="5239512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87752"/>
            <a:ext cx="48737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Historical Longitudinal Distribution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Chicago Crime Volume Trends (2006-2023)</a:t>
            </a:r>
          </a:p>
        </p:txBody>
      </p:sp>
      <p:pic>
        <p:nvPicPr>
          <p:cNvPr id="19" name="Picture 18" descr="01_crime_trend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17520"/>
            <a:ext cx="487375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Incident Graph Construction &amp; Topological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4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Multiplex Edge Formation &amp; Topology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Constrained Spatial-Temporal Spatial Proximity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Tri-Criteria Adjacency Rule: </a:t>
            </a:r>
            <a:r>
              <a:rPr>
                <a:solidFill>
                  <a:srgbClr val="F8FAFC"/>
                </a:solidFill>
              </a:rPr>
              <a:t>Incidents u, v are connected if and only if:
1. Haversine distance &lt;= 1.5 km (BallTree lookup)
2. Temporal window |t_u - t_v| &lt;= 7 days
3. Same Police District boundary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Scale &amp; Sparsity: </a:t>
            </a:r>
            <a:r>
              <a:rPr>
                <a:solidFill>
                  <a:srgbClr val="F8FAFC"/>
                </a:solidFill>
              </a:rPr>
              <a:t>30,000 nodes, 189,474 directed edges (94,737 undirected edges). Density = 2.11e-4, preventing over-smoothing during message passing.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Degree Statistics: </a:t>
            </a:r>
            <a:r>
              <a:rPr>
                <a:solidFill>
                  <a:srgbClr val="F8FAFC"/>
                </a:solidFill>
              </a:rPr>
              <a:t>Average node degree = 6.32, Maximum degree = 60 (tactical hotspot nodes with dense recurrent crime clusters).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Graph Integrity: </a:t>
            </a:r>
            <a:r>
              <a:rPr>
                <a:solidFill>
                  <a:srgbClr val="F8FAFC"/>
                </a:solidFill>
              </a:rPr>
              <a:t>152 connected components, only 5 isolated nodes (99.98% connectivity). Zero self-loops, strictly valid PyG Data object.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71600"/>
            <a:ext cx="5559552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53619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End-to-End System Pipeline Architecture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From Raw Data Ingestion to Gradio Interface</a:t>
            </a:r>
          </a:p>
        </p:txBody>
      </p:sp>
      <p:pic>
        <p:nvPicPr>
          <p:cNvPr id="11" name="Picture 10" descr="project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2852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Deep Learning Architecture: GraphSAGE vs Baseline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5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493776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Model Architectural Formulations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Controlled Experimental Setup for Graph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Inductive GraphSAGE: </a:t>
            </a:r>
            <a:r>
              <a:rPr>
                <a:solidFill>
                  <a:srgbClr val="F8FAFC"/>
                </a:solidFill>
              </a:rPr>
              <a:t>Layer 1: SAGEConv(40 -&gt; 128, aggr='mean') + LayerNorm + ReLU + Dropout(0.2).
Layer 2: SAGEConv(128 -&gt; 64, aggr='mean') generating 64-D normalized incident embedding.
Head: Linear(64 -&gt; 30) multi-class logits.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Controlled Baseline MLP: </a:t>
            </a:r>
            <a:r>
              <a:rPr>
                <a:solidFill>
                  <a:srgbClr val="F8FAFC"/>
                </a:solidFill>
              </a:rPr>
              <a:t>Identical dimensions: Linear(40-&gt;128) -&gt; Linear(128-&gt;64) -&gt; Linear(64-&gt;30). Zero neighborhood aggregation. Evaluates features in total isolation.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Training Configuration: </a:t>
            </a:r>
            <a:r>
              <a:rPr>
                <a:solidFill>
                  <a:srgbClr val="F8FAFC"/>
                </a:solidFill>
              </a:rPr>
              <a:t>Adam optimizer (lr=0.001, weight_decay=5e-4), Class-Weighted Cross-Entropy Loss to handle severe class imbalance, 100 epochs, early stopping patience 15.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Strict Split Protocol: </a:t>
            </a:r>
            <a:r>
              <a:rPr>
                <a:solidFill>
                  <a:srgbClr val="F8FAFC"/>
                </a:solidFill>
              </a:rPr>
              <a:t>Train = 20,994 (70%), Val = 4,500 (15%), Test = 4,500 (15%). Metrics computed exclusively on unseen held-out test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371600"/>
            <a:ext cx="5559552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536192"/>
            <a:ext cx="51937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Detailed Neural Network Schematics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PyTorch Geometric GraphSAGE vs Matched MLP Baseline</a:t>
            </a:r>
          </a:p>
        </p:txBody>
      </p:sp>
      <p:pic>
        <p:nvPicPr>
          <p:cNvPr id="11" name="Picture 10" descr="model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528523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Quantitative Model Evaluation &amp; Benchmark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6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31089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Segoe UI"/>
              </a:defRPr>
            </a:pPr>
            <a:r>
              <a:t>15.11% vs 12.22%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Test Accuracy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+2.89 percentage points gain for GraphSAGE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81328"/>
            <a:ext cx="3108960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Segoe UI"/>
              </a:defRPr>
            </a:pPr>
            <a:r>
              <a:t>0.1623 vs 0.1222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Weighted F1 Score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+0.0401 gain (+32.8% relative lift)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10712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481328"/>
            <a:ext cx="3136392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BBF24"/>
                </a:solidFill>
                <a:latin typeface="Segoe UI"/>
              </a:defRPr>
            </a:pPr>
            <a:r>
              <a:t>0.0731 vs 0.0590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Macro F1 Score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+0.0141 gain (+23.9% relative lift)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5166360" cy="3703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2491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Empirical Analysis &amp; Trade-Offs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Zero-Fabrication Rigorous Test Evaluation (4,500 nodes)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800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Consistent Relational Advantage: </a:t>
            </a:r>
            <a:r>
              <a:rPr>
                <a:solidFill>
                  <a:srgbClr val="F8FAFC"/>
                </a:solidFill>
              </a:rPr>
              <a:t>GraphSAGE surpasses MLP across Accuracy, Weighted F1, Macro F1, Weighted Precision (0.3060 vs 0.2893), and Weighted Recall (0.1511 vs 0.1222).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Neighborhood Context: </a:t>
            </a:r>
            <a:r>
              <a:rPr>
                <a:solidFill>
                  <a:srgbClr val="F8FAFC"/>
                </a:solidFill>
              </a:rPr>
              <a:t>Spatial-temporal neighbor aggregation injects critical behavioral context, allowing the GNN to disambiguate crime types that share identical tabular attributes.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Honest Scientific Trade-Off: </a:t>
            </a:r>
            <a:r>
              <a:rPr>
                <a:solidFill>
                  <a:srgbClr val="F8FAFC"/>
                </a:solidFill>
              </a:rPr>
              <a:t>MLP achieved slightly higher Macro Precision (0.1068 vs 0.1046) by making ultra-conservative predictions on rare classes, whereas GraphSAGE achieved higher Macro Recall (0.1209 vs 0.1127).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560320"/>
            <a:ext cx="5330952" cy="3703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Full Test Split Verification Table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Certified Test Performance Metrics</a:t>
            </a:r>
          </a:p>
        </p:txBody>
      </p:sp>
      <p:pic>
        <p:nvPicPr>
          <p:cNvPr id="17" name="Picture 16" descr="results_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063240"/>
            <a:ext cx="5056632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Latent Representation Learning &amp; Embedding Geometry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7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64-Dimensional Incident Embeddings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Continuous Latent Representation of Crime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L2-Normalized Hypersphere: </a:t>
            </a:r>
            <a:r>
              <a:rPr>
                <a:solidFill>
                  <a:srgbClr val="F8FAFC"/>
                </a:solidFill>
              </a:rPr>
              <a:t>All 30,000 incident embeddings from GraphSAGE Layer 2 are projected onto a unit sphere, enabling fast angular cosine similarity computation.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Semantic Manifold Clustering: </a:t>
            </a:r>
            <a:r>
              <a:rPr>
                <a:solidFill>
                  <a:srgbClr val="F8FAFC"/>
                </a:solidFill>
              </a:rPr>
              <a:t>Incidents with similar modus operandi, spatial constraints, and temporal rhythm naturally cluster tightly in embedding space.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Generalization to Unseen Crimes: </a:t>
            </a:r>
            <a:r>
              <a:rPr>
                <a:solidFill>
                  <a:srgbClr val="F8FAFC"/>
                </a:solidFill>
              </a:rPr>
              <a:t>Because GraphSAGE is inductive, novel incoming incident reports can be immediately embedded by aggregating their 1-hop and 2-hop neighbors without full graph retraining.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Operational Forensic Utility: </a:t>
            </a:r>
            <a:r>
              <a:rPr>
                <a:solidFill>
                  <a:srgbClr val="F8FAFC"/>
                </a:solidFill>
              </a:rPr>
              <a:t>Enables rapid nearest-neighbor search to identify prior incidents with correlated latent signatures across different police districts.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30952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36192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Cosine Similarity Distribution in Latent Space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Pairwise Incident Similarity Profile</a:t>
            </a:r>
          </a:p>
        </p:txBody>
      </p:sp>
      <p:pic>
        <p:nvPicPr>
          <p:cNvPr id="11" name="Picture 10" descr="10_gnn_similar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11680"/>
            <a:ext cx="505663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Crime Link Prediction &amp; Cold Case Investigation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8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4924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Multi-Factor Crime Link Scoring Engine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Formulation &amp; Real Case Study (Node 587)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983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Balanced Composite Score Formulation: </a:t>
            </a:r>
            <a:r>
              <a:rPr>
                <a:solidFill>
                  <a:srgbClr val="F8FAFC"/>
                </a:solidFill>
              </a:rPr>
              <a:t>Score = 0.35 * S_gnn + 0.25 * S_spatial + 0.15 * S_temporal + 0.15 * S_type + 0.10 * S_district
Combines latent GNN cosine similarity with physical spatial proximity and temporal decay.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Scale of Link Catalog: </a:t>
            </a:r>
            <a:r>
              <a:rPr>
                <a:solidFill>
                  <a:srgbClr val="F8FAFC"/>
                </a:solidFill>
              </a:rPr>
              <a:t>71,915 unique canonical incident pairs scored, establishing a searchable index for cold-case and serial crime investigation.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Concrete Case Study: Node 587: </a:t>
            </a:r>
            <a:r>
              <a:rPr>
                <a:solidFill>
                  <a:srgbClr val="F8FAFC"/>
                </a:solidFill>
              </a:rPr>
              <a:t>Case HZ102757 | Aggravated Handgun Assault | District 9 (Date: 2016-01-03).
• Top Link #1: Node 11356 (JA158767, Motor Vehicle Theft, Dist 8) - Sim: 0.9935
• Top Link #2: Node 3283 (JA118510, Deceptive Practice, Dist 9) - Sim: 0.9918
• Top Link #3: Node 959 (HZ482430, Criminal Damage, Dist 8) - Sim: 0.9914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Tactical Value: </a:t>
            </a:r>
            <a:r>
              <a:rPr>
                <a:solidFill>
                  <a:srgbClr val="F8FAFC"/>
                </a:solidFill>
              </a:rPr>
              <a:t>Uncovers weapon-involved escape vehicles and cross-precinct criminal syndicates operating along district borderlines.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48072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3619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Candidate Link Score Distribution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Scoring Profile Across 71,915 Incident Pairs</a:t>
            </a:r>
          </a:p>
        </p:txBody>
      </p:sp>
      <p:pic>
        <p:nvPicPr>
          <p:cNvPr id="11" name="Picture 10" descr="09_crime_link_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487375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Community Detection &amp; Criminal Syndicate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9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Unsupervised Louvain Network Partitioning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Discovering Latent Criminal Sub-Structures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Greedy Modularity Optimization: </a:t>
            </a:r>
            <a:r>
              <a:rPr>
                <a:solidFill>
                  <a:srgbClr val="F8FAFC"/>
                </a:solidFill>
              </a:rPr>
              <a:t>Applies the Louvain heuristic to the spatial-temporal crime graph, optimizing network modularity to discover natural dense incident clusters.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272 Communities Identified: </a:t>
            </a:r>
            <a:r>
              <a:rPr>
                <a:solidFill>
                  <a:srgbClr val="F8FAFC"/>
                </a:solidFill>
              </a:rPr>
              <a:t>Reveals localized crime ecosystems that transcend arbitrary police district borders, highlighting geographic crime corridors.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Cross-District Syndicates: </a:t>
            </a:r>
            <a:r>
              <a:rPr>
                <a:solidFill>
                  <a:srgbClr val="F8FAFC"/>
                </a:solidFill>
              </a:rPr>
              <a:t>Multiple discovered communities bridge adjacent districts (e.g., District 7 and District 8), capturing mobile criminal networks invisible to single-district patrol squads.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Hub Incident Identification: </a:t>
            </a:r>
            <a:r>
              <a:rPr>
                <a:solidFill>
                  <a:srgbClr val="F8FAFC"/>
                </a:solidFill>
              </a:rPr>
              <a:t>High-degree central nodes within communities represent focal nexus incidents (drug market locations, transit hubs) critical for deterrence prioritization.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30952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36192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Distribution of Community Sizes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Incident Cluster Scale Across Chicago</a:t>
            </a:r>
          </a:p>
        </p:txBody>
      </p:sp>
      <p:pic>
        <p:nvPicPr>
          <p:cNvPr id="11" name="Picture 10" descr="08_community_siz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11680"/>
            <a:ext cx="505663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CHICAGO CRIME INTELLIGENCE SYSTEM | RESEARCH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Interactive Dashboard, Operational Deployment &amp; Ethics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591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Chicago Crime Intelligence System  •  PyG GraphSAGE vs Baseline MLP  •  Slide 10 of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66360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Interactive 8-Tab Investigation Suite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Local Web Interface (http://127.0.0.1:7860)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00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1: System Overview &amp; KPIs: </a:t>
            </a:r>
            <a:r>
              <a:rPr>
                <a:solidFill>
                  <a:srgbClr val="F8FAFC"/>
                </a:solidFill>
              </a:rPr>
              <a:t>Live health status, dataset dimensions, graph scale, and hardware telemetry.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2: Crime Pattern Analysis: </a:t>
            </a:r>
            <a:r>
              <a:rPr>
                <a:solidFill>
                  <a:srgbClr val="F8FAFC"/>
                </a:solidFill>
              </a:rPr>
              <a:t>Interactive spatial-temporal distributions, hourly cycles, and location filtering.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3: Network Topology: </a:t>
            </a:r>
            <a:r>
              <a:rPr>
                <a:solidFill>
                  <a:srgbClr val="F8FAFC"/>
                </a:solidFill>
              </a:rPr>
              <a:t>Degree distributions, sparsity metrics, and connected component exploration.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4: GraphSAGE Inference: </a:t>
            </a:r>
            <a:r>
              <a:rPr>
                <a:solidFill>
                  <a:srgbClr val="F8FAFC"/>
                </a:solidFill>
              </a:rPr>
              <a:t>Real-time incident classification with top-3 prediction probabilities.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5: Latent Embedding Explorer: </a:t>
            </a:r>
            <a:r>
              <a:rPr>
                <a:solidFill>
                  <a:srgbClr val="F8FAFC"/>
                </a:solidFill>
              </a:rPr>
              <a:t>64-D embedding inspection, cosine similarity rankings, and neighbor retrieval.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6: Crime Link Discovery: </a:t>
            </a:r>
            <a:r>
              <a:rPr>
                <a:solidFill>
                  <a:srgbClr val="F8FAFC"/>
                </a:solidFill>
              </a:rPr>
              <a:t>Cold case linkage engine with adjustable multi-factor scoring weights.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7: Community Analysis: </a:t>
            </a:r>
            <a:r>
              <a:rPr>
                <a:solidFill>
                  <a:srgbClr val="F8FAFC"/>
                </a:solidFill>
              </a:rPr>
              <a:t>Louvain cluster inspection, syndicate mapping, and intra-cluster statistics.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Tab 8: Incident Deep Dive Dossier: </a:t>
            </a:r>
            <a:r>
              <a:rPr>
                <a:solidFill>
                  <a:srgbClr val="F8FAFC"/>
                </a:solidFill>
              </a:rPr>
              <a:t>Full case report generator with map coordinates and forensic summary.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5330952" cy="4892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36192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Operational Security, Ethics &amp; Future Scope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Responsible AI &amp; Production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60"/>
            <a:ext cx="49651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Zero Public Exposure: </a:t>
            </a:r>
            <a:r>
              <a:rPr>
                <a:solidFill>
                  <a:srgbClr val="F8FAFC"/>
                </a:solidFill>
              </a:rPr>
              <a:t>Runs strictly as a local web server (127.0.0.1:7860, share=False). Sensitive law enforcement crime data remains completely on-premises.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Responsible AI &amp; Ethics Guardrail: </a:t>
            </a:r>
            <a:r>
              <a:rPr>
                <a:solidFill>
                  <a:srgbClr val="F8FAFC"/>
                </a:solidFill>
              </a:rPr>
              <a:t>Statistical links represent mathematical correlations between incident reports; they DO NOT establish individual culpability or personal identity.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Mitigating Enforcement Bias: </a:t>
            </a:r>
            <a:r>
              <a:rPr>
                <a:solidFill>
                  <a:srgbClr val="F8FAFC"/>
                </a:solidFill>
              </a:rPr>
              <a:t>Chicago crime reports reflect historical policing intensity; model outputs must guide strategic resource deployment rather than punitive profiling.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</a:t>
            </a:r>
            <a:r>
              <a:rPr b="1">
                <a:solidFill>
                  <a:srgbClr val="F8FAFC"/>
                </a:solidFill>
              </a:rPr>
              <a:t>Future Roadmap: </a:t>
            </a:r>
            <a:r>
              <a:rPr>
                <a:solidFill>
                  <a:srgbClr val="F8FAFC"/>
                </a:solidFill>
              </a:rPr>
              <a:t>Integrating dynamic Temporal GNNs (TGN/TGAT) for real-time streaming CAD events and heterogeneous networks incorporating vehicles, weapons, and locations.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